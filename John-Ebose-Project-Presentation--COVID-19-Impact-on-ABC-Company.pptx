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60" r:id="rId6"/>
    <p:sldId id="262" r:id="rId7"/>
    <p:sldId id="264" r:id="rId8"/>
    <p:sldId id="275" r:id="rId9"/>
    <p:sldId id="276" r:id="rId10"/>
    <p:sldId id="266" r:id="rId11"/>
    <p:sldId id="274" r:id="rId12"/>
    <p:sldId id="278" r:id="rId13"/>
    <p:sldId id="272" r:id="rId14"/>
  </p:sldIdLst>
  <p:sldSz cx="18288000" cy="10287000"/>
  <p:notesSz cx="6858000" cy="9144000"/>
  <p:embeddedFontLst>
    <p:embeddedFont>
      <p:font typeface="Clear Sans" panose="020B0604020202020204" charset="0"/>
      <p:regular r:id="rId16"/>
    </p:embeddedFont>
    <p:embeddedFont>
      <p:font typeface="Clear Sans Bold" panose="020B0604020202020204" charset="0"/>
      <p:regular r:id="rId17"/>
    </p:embeddedFont>
    <p:embeddedFont>
      <p:font typeface="Tenor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7" y="2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3F2F96-465B-4CAF-98D2-0001C6405620}" type="datetimeFigureOut">
              <a:rPr lang="en-CA" smtClean="0"/>
              <a:t>2025-12-13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248D5-A1C9-4C62-97B6-AA677E30800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069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8991-0F19-4044-8570-0CBAC7A2C3AE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2FAD-FAFA-435A-83A8-620FDBFE0F4A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0FD6B-9959-4585-A700-3662C1FDF629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498F-5A1F-4823-8677-2B2C1776B822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38B9-47FD-460E-83D8-98486B13545C}" type="datetime1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0A88-B74E-4D37-A1EF-FB698924AEF1}" type="datetime1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5E3EA-9211-4D22-AAFF-0CBF5079AF45}" type="datetime1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97F01-EB90-4EFD-811D-FD6E3C8DEF95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C3067-9F81-44D0-A786-4C5D80C635EB}" type="datetime1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36B72-2D82-4759-8491-F4E6501B9145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C8B38-65C8-4C3C-9092-ED6E031581E3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DCCAD-C764-4098-A512-34C5106D3F39}" type="datetime1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1774365"/>
            <a:ext cx="9763125" cy="6293187"/>
            <a:chOff x="0" y="0"/>
            <a:chExt cx="13017500" cy="8390916"/>
          </a:xfrm>
        </p:grpSpPr>
        <p:sp>
          <p:nvSpPr>
            <p:cNvPr id="3" name="TextBox 3"/>
            <p:cNvSpPr txBox="1"/>
            <p:nvPr/>
          </p:nvSpPr>
          <p:spPr>
            <a:xfrm>
              <a:off x="0" y="190500"/>
              <a:ext cx="13017500" cy="5499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500"/>
                </a:lnSpc>
              </a:pPr>
              <a:r>
                <a:rPr lang="en-US" sz="10500" spc="-210" dirty="0">
                  <a:solidFill>
                    <a:srgbClr val="07455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COVID-19 Impact on ABC Company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6199644"/>
              <a:ext cx="13017500" cy="2191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7455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PRESENTED BY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7455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JOHN ADEDOYIN AND</a:t>
              </a:r>
            </a:p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74559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EBOSELUIMEN EHIZOJIE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0"/>
            <a:ext cx="6115050" cy="10287000"/>
            <a:chOff x="0" y="0"/>
            <a:chExt cx="947381" cy="1593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47381" cy="1593725"/>
            </a:xfrm>
            <a:custGeom>
              <a:avLst/>
              <a:gdLst/>
              <a:ahLst/>
              <a:cxnLst/>
              <a:rect l="l" t="t" r="r" b="b"/>
              <a:pathLst>
                <a:path w="947381" h="1593725">
                  <a:moveTo>
                    <a:pt x="0" y="0"/>
                  </a:moveTo>
                  <a:lnTo>
                    <a:pt x="947381" y="0"/>
                  </a:lnTo>
                  <a:lnTo>
                    <a:pt x="94738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58" b="-58"/>
              </a:stretch>
            </a:blipFill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32D7F6-DCA5-F725-0D6E-BFCA45E6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621000" y="97917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05025" y="475215"/>
            <a:ext cx="14077950" cy="1055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</a:pPr>
            <a:r>
              <a:rPr lang="en-US" sz="6999" spc="-139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Objective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95600" y="3165298"/>
            <a:ext cx="11430000" cy="4941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quantify how COVID-19 changed overall parcel volumes and revenue for ABC Company between 2019 and 2020.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compare the impact of COVID-19 across customer segments (Enterprise, Large, Medium, Small) and identify which groups drove the most growth.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To translate these findings into clear strategic recommendations for post-COVID customer and segment strategy.</a:t>
            </a:r>
          </a:p>
          <a:p>
            <a:pPr marL="0" lvl="0" indent="0" algn="ctr">
              <a:lnSpc>
                <a:spcPts val="4284"/>
              </a:lnSpc>
              <a:spcBef>
                <a:spcPct val="0"/>
              </a:spcBef>
            </a:pPr>
            <a:endParaRPr lang="en-US" sz="3060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88876-74C9-27A8-1CC6-9A09EB87C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0" y="946739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98765" y="309329"/>
            <a:ext cx="1709046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spc="-10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How has COVID affected different customer groups?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9133" y="1960972"/>
            <a:ext cx="6917565" cy="7126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All groups grew, but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Medium and Small outpaced the network,</a:t>
            </a: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while Enterprise delivered the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largest absolute lift.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Evidence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Enterprise: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+37%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Large: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+33%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Medium: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+41%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Small: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+51%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Implication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Segment strategy should diversify focus beyond Enterprise.</a:t>
            </a:r>
          </a:p>
          <a:p>
            <a:pPr marL="0" lvl="0" indent="0" algn="ctr">
              <a:lnSpc>
                <a:spcPts val="4288"/>
              </a:lnSpc>
              <a:spcBef>
                <a:spcPct val="0"/>
              </a:spcBef>
            </a:pPr>
            <a:endParaRPr lang="en-US" sz="3063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D9539-127F-5126-1893-3476D90D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55634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C546D06-3ED2-7867-4526-EC7F7BECB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410" y="1013651"/>
            <a:ext cx="10069824" cy="8625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2027" y="282575"/>
            <a:ext cx="17090469" cy="840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080"/>
              </a:lnSpc>
            </a:pPr>
            <a:r>
              <a:rPr lang="en-US" sz="4800" spc="-11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When were customer volumes first impacted?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DE9AE-30E5-DD5F-BF1F-4A23350F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8896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3E22624A-CC29-1CD4-937A-81116B51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196534"/>
            <a:ext cx="15011400" cy="84144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46522" y="100474"/>
            <a:ext cx="17090469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80"/>
              </a:lnSpc>
            </a:pPr>
            <a:r>
              <a:rPr lang="en-US" sz="5900" spc="-11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How did COVID impact peak season in 2020?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8089" y="2844384"/>
            <a:ext cx="7606711" cy="6023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Peak season volumes were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higher in 2020 than in 2019</a:t>
            </a: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(November–December).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Evidence</a:t>
            </a:r>
          </a:p>
          <a:p>
            <a:pPr marL="661355" lvl="1" indent="-330678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Peak volume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</a:t>
            </a: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week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2019 vs 2020 peak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Peak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Weeks 45–53</a:t>
            </a: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</a:t>
            </a:r>
          </a:p>
          <a:p>
            <a:pPr marL="661355" lvl="1" indent="-330678" algn="l">
              <a:lnSpc>
                <a:spcPts val="4288"/>
              </a:lnSpc>
              <a:spcBef>
                <a:spcPct val="0"/>
              </a:spcBef>
              <a:buFont typeface="Arial"/>
              <a:buChar char="•"/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High demand sustained from COVID + holiday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Implication</a:t>
            </a:r>
          </a:p>
          <a:p>
            <a:pPr marL="0" lvl="0" indent="0" algn="l">
              <a:lnSpc>
                <a:spcPts val="4288"/>
              </a:lnSpc>
              <a:spcBef>
                <a:spcPct val="0"/>
              </a:spcBef>
            </a:pP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Requires </a:t>
            </a:r>
            <a:r>
              <a:rPr lang="en-US" sz="3063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earlier capacity planning and peak readiness</a:t>
            </a:r>
            <a:r>
              <a:rPr lang="en-US" sz="3063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going forward.</a:t>
            </a:r>
          </a:p>
          <a:p>
            <a:pPr marL="0" lvl="0" indent="0" algn="ctr">
              <a:lnSpc>
                <a:spcPts val="4288"/>
              </a:lnSpc>
              <a:spcBef>
                <a:spcPct val="0"/>
              </a:spcBef>
            </a:pPr>
            <a:endParaRPr lang="en-US" sz="3063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F34DC8-42E1-A7B1-E4CE-4BB503D0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0215" y="960589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 descr="A graph of growth and growth&#10;&#10;AI-generated content may be incorrect.">
            <a:extLst>
              <a:ext uri="{FF2B5EF4-FFF2-40B4-BE49-F238E27FC236}">
                <a16:creationId xmlns:a16="http://schemas.microsoft.com/office/drawing/2014/main" id="{B987F45B-5DFB-00EE-FAA3-EE232E78D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005349"/>
            <a:ext cx="10058400" cy="92816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9133" y="1019175"/>
            <a:ext cx="1709046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spc="-108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% Growing vs Stable vs Declining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3107" y="2145838"/>
            <a:ext cx="6137693" cy="8421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Customer distribution shows </a:t>
            </a:r>
            <a:r>
              <a:rPr lang="en-US" sz="220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balanced performance</a:t>
            </a: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, with the majority </a:t>
            </a:r>
            <a:r>
              <a:rPr lang="en-US" sz="220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growing or moderately growing</a:t>
            </a: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, and a smaller share declining.</a:t>
            </a:r>
          </a:p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Evidence</a:t>
            </a:r>
          </a:p>
          <a:p>
            <a:pPr marL="678059" lvl="1" indent="-339030" algn="l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High-growth customers: outsized gains (&gt; network)</a:t>
            </a:r>
          </a:p>
          <a:p>
            <a:pPr marL="678059" lvl="1" indent="-339030" algn="l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Moderate growth: align with network growth</a:t>
            </a:r>
          </a:p>
          <a:p>
            <a:pPr marL="678059" lvl="1" indent="-339030" algn="l">
              <a:lnSpc>
                <a:spcPts val="4396"/>
              </a:lnSpc>
              <a:spcBef>
                <a:spcPct val="0"/>
              </a:spcBef>
              <a:buFont typeface="Arial"/>
              <a:buChar char="•"/>
            </a:pP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Declining: small minority with lower 2020 volume</a:t>
            </a:r>
          </a:p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Implication</a:t>
            </a:r>
          </a:p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220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Customer performance is uneven and requires targeted playbooks.</a:t>
            </a:r>
          </a:p>
          <a:p>
            <a:pPr marL="0" lvl="0" indent="0" algn="ctr">
              <a:lnSpc>
                <a:spcPts val="4396"/>
              </a:lnSpc>
              <a:spcBef>
                <a:spcPct val="0"/>
              </a:spcBef>
            </a:pPr>
            <a:endParaRPr lang="en-US" sz="3140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7A2DA-AB9E-5E0D-64E5-0BB656B9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 descr="A group of pie charts&#10;&#10;AI-generated content may be incorrect.">
            <a:extLst>
              <a:ext uri="{FF2B5EF4-FFF2-40B4-BE49-F238E27FC236}">
                <a16:creationId xmlns:a16="http://schemas.microsoft.com/office/drawing/2014/main" id="{20C9DF90-BEE5-3785-4FAE-1B0B1694B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45269"/>
            <a:ext cx="11624093" cy="7687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54378" y="647700"/>
            <a:ext cx="17090469" cy="783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480"/>
              </a:lnSpc>
            </a:pPr>
            <a:r>
              <a:rPr lang="en-US" sz="4800" spc="-10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% New Customers and Lost Customers During COVID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6493" y="2742818"/>
            <a:ext cx="5899507" cy="4471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4396"/>
              </a:lnSpc>
              <a:spcBef>
                <a:spcPct val="0"/>
              </a:spcBef>
            </a:pPr>
            <a:r>
              <a:rPr lang="en-US" sz="314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0% of customers were new</a:t>
            </a:r>
          </a:p>
          <a:p>
            <a:pPr lvl="0">
              <a:lnSpc>
                <a:spcPts val="4396"/>
              </a:lnSpc>
              <a:spcBef>
                <a:spcPct val="0"/>
              </a:spcBef>
            </a:pPr>
            <a:endParaRPr lang="en-US" sz="3140" b="1" dirty="0">
              <a:solidFill>
                <a:srgbClr val="074559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lvl="0">
              <a:lnSpc>
                <a:spcPts val="4396"/>
              </a:lnSpc>
              <a:spcBef>
                <a:spcPct val="0"/>
              </a:spcBef>
            </a:pPr>
            <a:r>
              <a:rPr lang="en-US" sz="3140" b="1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Customer loss </a:t>
            </a:r>
            <a:r>
              <a:rPr lang="en-US" sz="314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was </a:t>
            </a:r>
            <a:r>
              <a:rPr lang="en-US" sz="314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negligible</a:t>
            </a:r>
            <a:r>
              <a:rPr lang="en-US" sz="314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during the COVID period</a:t>
            </a:r>
          </a:p>
          <a:p>
            <a:pPr lvl="0">
              <a:lnSpc>
                <a:spcPts val="4396"/>
              </a:lnSpc>
              <a:spcBef>
                <a:spcPct val="0"/>
              </a:spcBef>
            </a:pPr>
            <a:endParaRPr lang="en-US" sz="3140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314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Implication</a:t>
            </a:r>
          </a:p>
          <a:p>
            <a:pPr marL="0" lvl="0" indent="0" algn="l">
              <a:lnSpc>
                <a:spcPts val="4396"/>
              </a:lnSpc>
              <a:spcBef>
                <a:spcPct val="0"/>
              </a:spcBef>
            </a:pPr>
            <a:r>
              <a:rPr lang="en-US" sz="314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 COVID </a:t>
            </a:r>
            <a:r>
              <a:rPr lang="en-US" sz="3140" b="1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expanded engagement</a:t>
            </a:r>
            <a:r>
              <a:rPr lang="en-US" sz="3140" dirty="0">
                <a:solidFill>
                  <a:srgbClr val="074559"/>
                </a:solidFill>
                <a:latin typeface="Clear Sans"/>
                <a:ea typeface="Clear Sans"/>
                <a:cs typeface="Clear Sans"/>
                <a:sym typeface="Clear Sans"/>
              </a:rPr>
              <a:t>.</a:t>
            </a:r>
          </a:p>
          <a:p>
            <a:pPr marL="0" lvl="0" indent="0" algn="ctr">
              <a:lnSpc>
                <a:spcPts val="4396"/>
              </a:lnSpc>
              <a:spcBef>
                <a:spcPct val="0"/>
              </a:spcBef>
            </a:pPr>
            <a:endParaRPr lang="en-US" sz="3140" dirty="0">
              <a:solidFill>
                <a:srgbClr val="074559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51C385-F2FB-8497-B9AE-8BEEB3636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6002" y="958329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2" name="Picture 11" descr="A graph of customers lost during covid&#10;&#10;AI-generated content may be incorrect.">
            <a:extLst>
              <a:ext uri="{FF2B5EF4-FFF2-40B4-BE49-F238E27FC236}">
                <a16:creationId xmlns:a16="http://schemas.microsoft.com/office/drawing/2014/main" id="{25149F72-1618-C890-E29D-384A373EF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692292"/>
            <a:ext cx="11931979" cy="82561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59133" y="1019175"/>
            <a:ext cx="1709046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5400" spc="-10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Impact on Volumes and Revenue by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2D747-1086-FB8B-9EC6-52293A3F1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6002" y="9435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53E24F9B-A773-57D1-73AD-7268DA6C2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74" y="2095500"/>
            <a:ext cx="16798228" cy="5638800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8EBA4905-18F5-ACBB-F20C-195CB87CE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8169418"/>
            <a:ext cx="153756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COVID-19 increased both parcel volume and revenue across every customer group.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Enterprise drove the largest total gains, while Small and Medium showed the highest growth rates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939F9-61F7-0934-979F-14457F2D7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79EBC6B-3E91-23F8-55F5-5C1EFEBBC3BB}"/>
              </a:ext>
            </a:extLst>
          </p:cNvPr>
          <p:cNvSpPr txBox="1"/>
          <p:nvPr/>
        </p:nvSpPr>
        <p:spPr>
          <a:xfrm>
            <a:off x="359133" y="243719"/>
            <a:ext cx="17090469" cy="76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0"/>
              </a:lnSpc>
            </a:pPr>
            <a:r>
              <a:rPr lang="en-US" sz="4400" spc="-108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Impact on Volumes and Revenue by Group (Discount Applied)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DDA75-8844-F670-F238-534698B4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6002" y="943553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790AEE0F-B709-9D88-8417-4C3A3CA48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018988"/>
            <a:ext cx="15996083" cy="841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05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371600" y="590510"/>
            <a:ext cx="15196456" cy="834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54"/>
              </a:lnSpc>
            </a:pPr>
            <a:r>
              <a:rPr lang="en-US" sz="5628" spc="-112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📦 </a:t>
            </a:r>
            <a:r>
              <a:rPr lang="en-US" sz="3200" spc="-112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Executive Summary: COVID Impact on ABC Parcel Business (2019→2020)</a:t>
            </a:r>
            <a:endParaRPr lang="en-US" sz="5628" b="1" spc="-112" dirty="0">
              <a:solidFill>
                <a:srgbClr val="4A90E2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D0C2C-FF71-F034-5D73-6B2DCDE8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44800" y="9486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EA999-9589-9EFB-09BD-7772B7220637}"/>
              </a:ext>
            </a:extLst>
          </p:cNvPr>
          <p:cNvSpPr txBox="1"/>
          <p:nvPr/>
        </p:nvSpPr>
        <p:spPr>
          <a:xfrm>
            <a:off x="2220686" y="5680161"/>
            <a:ext cx="6781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+38%</a:t>
            </a:r>
            <a:r>
              <a:rPr lang="en-US" sz="3200" dirty="0"/>
              <a:t> Total Volume Growth</a:t>
            </a:r>
            <a:br>
              <a:rPr lang="en-US" sz="3200" dirty="0"/>
            </a:br>
            <a:r>
              <a:rPr lang="en-US" sz="3200" i="1" dirty="0"/>
              <a:t>2019 → 2020 (existing customers only)</a:t>
            </a:r>
            <a:endParaRPr 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FE01E-D59C-78F7-8A88-2C07BB9711E3}"/>
              </a:ext>
            </a:extLst>
          </p:cNvPr>
          <p:cNvSpPr txBox="1"/>
          <p:nvPr/>
        </p:nvSpPr>
        <p:spPr>
          <a:xfrm>
            <a:off x="10754365" y="7713164"/>
            <a:ext cx="70648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Strategy</a:t>
            </a:r>
          </a:p>
          <a:p>
            <a:pPr>
              <a:buNone/>
            </a:pPr>
            <a:r>
              <a:rPr lang="en-US" sz="3200" b="1" dirty="0"/>
              <a:t>Focus:</a:t>
            </a:r>
            <a:r>
              <a:rPr lang="en-US" sz="3200" dirty="0"/>
              <a:t> Protect Enterprise • Grow Medium/Small e-commerce shippers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9C4715-8484-B083-F6FB-A537251C579E}"/>
              </a:ext>
            </a:extLst>
          </p:cNvPr>
          <p:cNvSpPr txBox="1"/>
          <p:nvPr/>
        </p:nvSpPr>
        <p:spPr>
          <a:xfrm>
            <a:off x="10725336" y="5680161"/>
            <a:ext cx="6324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/>
              <a:t>growth came only from current base</a:t>
            </a:r>
            <a:endParaRPr lang="en-US" sz="3200" dirty="0"/>
          </a:p>
          <a:p>
            <a:r>
              <a:rPr lang="en-US" sz="3200" b="1" dirty="0"/>
              <a:t>Enterprise:</a:t>
            </a:r>
            <a:r>
              <a:rPr lang="en-US" sz="3200" dirty="0"/>
              <a:t> </a:t>
            </a:r>
            <a:r>
              <a:rPr lang="en-US" sz="3200" b="1" dirty="0"/>
              <a:t>largest scale</a:t>
            </a:r>
            <a:br>
              <a:rPr lang="en-US" sz="3200" dirty="0"/>
            </a:br>
            <a:r>
              <a:rPr lang="en-US" sz="3200" i="1" dirty="0"/>
              <a:t>(core engine)</a:t>
            </a:r>
            <a:endParaRPr lang="en-US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CFF93-7B78-97AA-6BC2-F6630630950C}"/>
              </a:ext>
            </a:extLst>
          </p:cNvPr>
          <p:cNvSpPr txBox="1"/>
          <p:nvPr/>
        </p:nvSpPr>
        <p:spPr>
          <a:xfrm>
            <a:off x="2166582" y="7581900"/>
            <a:ext cx="6411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Medium + Small:</a:t>
            </a:r>
            <a:r>
              <a:rPr lang="en-US" sz="3200" dirty="0"/>
              <a:t> </a:t>
            </a:r>
            <a:r>
              <a:rPr lang="en-US" sz="3200" b="1" dirty="0"/>
              <a:t>fastest growth</a:t>
            </a:r>
            <a:br>
              <a:rPr lang="en-US" sz="3200" dirty="0"/>
            </a:br>
            <a:r>
              <a:rPr lang="en-US" sz="3200" i="1" dirty="0"/>
              <a:t>(emerging growth engine)</a:t>
            </a:r>
            <a:endParaRPr lang="en-US" sz="3200" dirty="0"/>
          </a:p>
        </p:txBody>
      </p: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B43817-73A9-5446-8AC6-9A5BE0F38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343" y="1819369"/>
            <a:ext cx="14413336" cy="3448531"/>
          </a:xfrm>
          <a:prstGeom prst="rect">
            <a:avLst/>
          </a:prstGeom>
        </p:spPr>
      </p:pic>
      <p:pic>
        <p:nvPicPr>
          <p:cNvPr id="16" name="Picture 15" descr="A graph with a arrow pointing up&#10;&#10;AI-generated content may be incorrect.">
            <a:extLst>
              <a:ext uri="{FF2B5EF4-FFF2-40B4-BE49-F238E27FC236}">
                <a16:creationId xmlns:a16="http://schemas.microsoft.com/office/drawing/2014/main" id="{711585B9-1DFC-B239-D20A-BA82A2380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5907858"/>
            <a:ext cx="559584" cy="557133"/>
          </a:xfrm>
          <a:prstGeom prst="rect">
            <a:avLst/>
          </a:prstGeom>
        </p:spPr>
      </p:pic>
      <p:pic>
        <p:nvPicPr>
          <p:cNvPr id="18" name="Picture 17" descr="A box with a check mark on it&#10;&#10;AI-generated content may be incorrect.">
            <a:extLst>
              <a:ext uri="{FF2B5EF4-FFF2-40B4-BE49-F238E27FC236}">
                <a16:creationId xmlns:a16="http://schemas.microsoft.com/office/drawing/2014/main" id="{AFBD19D9-2591-E5D0-4817-969BC774E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106" y="5788951"/>
            <a:ext cx="531180" cy="557133"/>
          </a:xfrm>
          <a:prstGeom prst="rect">
            <a:avLst/>
          </a:prstGeom>
        </p:spPr>
      </p:pic>
      <p:pic>
        <p:nvPicPr>
          <p:cNvPr id="20" name="Picture 19" descr="A black rocket with a graph&#10;&#10;AI-generated content may be incorrect.">
            <a:extLst>
              <a:ext uri="{FF2B5EF4-FFF2-40B4-BE49-F238E27FC236}">
                <a16:creationId xmlns:a16="http://schemas.microsoft.com/office/drawing/2014/main" id="{77D5DEF7-E558-F4CD-3F12-6BB57780C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106" y="7713164"/>
            <a:ext cx="540890" cy="557133"/>
          </a:xfrm>
          <a:prstGeom prst="rect">
            <a:avLst/>
          </a:prstGeom>
        </p:spPr>
      </p:pic>
      <p:pic>
        <p:nvPicPr>
          <p:cNvPr id="22" name="Picture 21" descr="A black and white circular object with a arrow in the center&#10;&#10;AI-generated content may be incorrect.">
            <a:extLst>
              <a:ext uri="{FF2B5EF4-FFF2-40B4-BE49-F238E27FC236}">
                <a16:creationId xmlns:a16="http://schemas.microsoft.com/office/drawing/2014/main" id="{AE70A47A-F107-3916-756E-CCCB721F4E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352" y="7713164"/>
            <a:ext cx="711984" cy="7170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87C4-5358-E508-1094-8AF011270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A6FBD30-6F24-646E-934A-02A46F6C6310}"/>
              </a:ext>
            </a:extLst>
          </p:cNvPr>
          <p:cNvSpPr txBox="1"/>
          <p:nvPr/>
        </p:nvSpPr>
        <p:spPr>
          <a:xfrm>
            <a:off x="21771" y="272791"/>
            <a:ext cx="11049000" cy="834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754"/>
              </a:lnSpc>
            </a:pPr>
            <a:r>
              <a:rPr lang="en-US" sz="5628" spc="-112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📦 Executive Recommendations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DC8BF84-8BD5-D119-45AB-C67B6E9D539F}"/>
              </a:ext>
            </a:extLst>
          </p:cNvPr>
          <p:cNvSpPr txBox="1"/>
          <p:nvPr/>
        </p:nvSpPr>
        <p:spPr>
          <a:xfrm>
            <a:off x="457200" y="1427010"/>
            <a:ext cx="16992600" cy="8371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400" b="1" dirty="0"/>
          </a:p>
          <a:p>
            <a:r>
              <a:rPr lang="en-US" sz="2400" dirty="0"/>
              <a:t>🏢 </a:t>
            </a:r>
            <a:r>
              <a:rPr lang="en-US" sz="2400" b="1" dirty="0"/>
              <a:t>Enterprise — Protect &amp; Lock In </a:t>
            </a:r>
          </a:p>
          <a:p>
            <a:endParaRPr lang="en-US" sz="2000" b="1" dirty="0"/>
          </a:p>
          <a:p>
            <a:r>
              <a:rPr lang="en-US" sz="2000" dirty="0"/>
              <a:t>                                 </a:t>
            </a:r>
            <a:r>
              <a:rPr lang="en-US" sz="3200" dirty="0"/>
              <a:t>Protect revenue with long-term contracts, tailored SLAs, and automation.</a:t>
            </a:r>
          </a:p>
          <a:p>
            <a:endParaRPr lang="en-US" sz="32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400" b="1" dirty="0"/>
              <a:t>🏭 Large — Optimize &amp; Retain</a:t>
            </a:r>
          </a:p>
          <a:p>
            <a:endParaRPr lang="en-US" sz="2000" b="1" dirty="0"/>
          </a:p>
          <a:p>
            <a:endParaRPr lang="en-US" sz="2000" dirty="0"/>
          </a:p>
          <a:p>
            <a:r>
              <a:rPr lang="en-US" sz="3200" dirty="0"/>
              <a:t>                     Improve reliability and use volume incentives to drive consistency.</a:t>
            </a:r>
          </a:p>
          <a:p>
            <a:endParaRPr lang="en-US" sz="2000" b="1" dirty="0"/>
          </a:p>
          <a:p>
            <a:endParaRPr lang="en-US" sz="2400" b="1" dirty="0"/>
          </a:p>
          <a:p>
            <a:r>
              <a:rPr lang="en-US" sz="2400" b="1" dirty="0"/>
              <a:t>🚀 Medium — Accelerate Growth</a:t>
            </a:r>
          </a:p>
          <a:p>
            <a:br>
              <a:rPr lang="en-US" sz="2000" dirty="0"/>
            </a:br>
            <a:r>
              <a:rPr lang="en-US" sz="2000" dirty="0"/>
              <a:t>                                   </a:t>
            </a:r>
            <a:r>
              <a:rPr lang="en-US" sz="3200" dirty="0"/>
              <a:t>Scale fast using digital onboarding, tiered pricing, and flexible logistics.</a:t>
            </a:r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dirty="0"/>
          </a:p>
          <a:p>
            <a:r>
              <a:rPr lang="en-US" sz="2400" b="1" dirty="0"/>
              <a:t>📦 Small — Convert &amp; Simplify</a:t>
            </a:r>
          </a:p>
          <a:p>
            <a:br>
              <a:rPr lang="en-US" sz="2000" dirty="0"/>
            </a:br>
            <a:r>
              <a:rPr lang="en-US" sz="3200" dirty="0"/>
              <a:t>                      Convert pandemic users with simple bundles, self-service, and clear pricing.</a:t>
            </a:r>
          </a:p>
          <a:p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D08F6-289B-504C-E95F-456C16D7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6200" y="936974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Picture 8" descr="A handshake and a pencil&#10;&#10;AI-generated content may be incorrect.">
            <a:extLst>
              <a:ext uri="{FF2B5EF4-FFF2-40B4-BE49-F238E27FC236}">
                <a16:creationId xmlns:a16="http://schemas.microsoft.com/office/drawing/2014/main" id="{0B7AECBD-BB70-1A24-663A-7A3CBB565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348" y="2513917"/>
            <a:ext cx="1141510" cy="1105583"/>
          </a:xfrm>
          <a:prstGeom prst="rect">
            <a:avLst/>
          </a:prstGeom>
        </p:spPr>
      </p:pic>
      <p:pic>
        <p:nvPicPr>
          <p:cNvPr id="11" name="Picture 10" descr="A black and white drawing of a truck with a clock on it&#10;&#10;AI-generated content may be incorrect.">
            <a:extLst>
              <a:ext uri="{FF2B5EF4-FFF2-40B4-BE49-F238E27FC236}">
                <a16:creationId xmlns:a16="http://schemas.microsoft.com/office/drawing/2014/main" id="{E0E7B5E2-890F-1012-3FA9-2AB1E4DDFF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499" y="4515665"/>
            <a:ext cx="1107106" cy="1105583"/>
          </a:xfrm>
          <a:prstGeom prst="rect">
            <a:avLst/>
          </a:prstGeom>
        </p:spPr>
      </p:pic>
      <p:pic>
        <p:nvPicPr>
          <p:cNvPr id="13" name="Picture 12" descr="A rocket flying to the top of a graph&#10;&#10;AI-generated content may be incorrect.">
            <a:extLst>
              <a:ext uri="{FF2B5EF4-FFF2-40B4-BE49-F238E27FC236}">
                <a16:creationId xmlns:a16="http://schemas.microsoft.com/office/drawing/2014/main" id="{0B9F1093-DC19-DE18-29F9-6DEF73036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465" y="6665685"/>
            <a:ext cx="1119540" cy="1105584"/>
          </a:xfrm>
          <a:prstGeom prst="rect">
            <a:avLst/>
          </a:prstGeom>
        </p:spPr>
      </p:pic>
      <p:pic>
        <p:nvPicPr>
          <p:cNvPr id="15" name="Picture 14" descr="A line art of different types of shopping icons&#10;&#10;AI-generated content may be incorrect.">
            <a:extLst>
              <a:ext uri="{FF2B5EF4-FFF2-40B4-BE49-F238E27FC236}">
                <a16:creationId xmlns:a16="http://schemas.microsoft.com/office/drawing/2014/main" id="{44733BCD-095D-35DB-FC6F-1AEC19E71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220" y="8858175"/>
            <a:ext cx="1174607" cy="78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78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5147F-C1F6-6936-A46C-BA9AE125B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FFFF4F7-E6C4-5AEB-1990-C11C6CD52E11}"/>
              </a:ext>
            </a:extLst>
          </p:cNvPr>
          <p:cNvSpPr txBox="1"/>
          <p:nvPr/>
        </p:nvSpPr>
        <p:spPr>
          <a:xfrm>
            <a:off x="3200400" y="342900"/>
            <a:ext cx="11049000" cy="834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754"/>
              </a:lnSpc>
            </a:pPr>
            <a:r>
              <a:rPr lang="en-US" sz="5628" spc="-112" dirty="0">
                <a:solidFill>
                  <a:srgbClr val="4A90E2"/>
                </a:solidFill>
                <a:latin typeface="Tenor Sans"/>
                <a:ea typeface="Tenor Sans"/>
                <a:cs typeface="Tenor Sans"/>
                <a:sym typeface="Tenor Sans"/>
              </a:rPr>
              <a:t>📦 Conclusion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FF7F5-6E8C-1B07-233E-CA55F9E5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316200" y="936974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94A17-E944-F886-4595-01C2F90F18B3}"/>
              </a:ext>
            </a:extLst>
          </p:cNvPr>
          <p:cNvSpPr txBox="1"/>
          <p:nvPr/>
        </p:nvSpPr>
        <p:spPr>
          <a:xfrm>
            <a:off x="1992086" y="2476500"/>
            <a:ext cx="14401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COVID-19 drove a major parcel surge from existing customers only.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 Enterprise delivered the biggest total volumes, while Medium/Small posted the fastest growth, and churn during the COVID observation period was negligible.</a:t>
            </a:r>
          </a:p>
          <a:p>
            <a:endParaRPr lang="en-US" sz="3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3600" dirty="0"/>
              <a:t>Discounting changed the mix: it protected activity but pushed many customers into lower tiers, so post-COVID strategy must balance retention incentives with long-term revenue protection.</a:t>
            </a:r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694550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981575" y="4589246"/>
            <a:ext cx="8324850" cy="63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79"/>
              </a:lnSpc>
              <a:spcBef>
                <a:spcPct val="0"/>
              </a:spcBef>
            </a:pPr>
            <a:r>
              <a:rPr lang="en-US" sz="11500" b="1" u="none" dirty="0">
                <a:solidFill>
                  <a:srgbClr val="074559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FC67B9-D94A-2A0E-426A-A33810C9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11400" y="94107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1747</TotalTime>
  <Words>562</Words>
  <Application>Microsoft Office PowerPoint</Application>
  <PresentationFormat>Custom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Arial</vt:lpstr>
      <vt:lpstr>Aptos</vt:lpstr>
      <vt:lpstr>Tenor Sans</vt:lpstr>
      <vt:lpstr>Wingdings</vt:lpstr>
      <vt:lpstr>Clear Sans</vt:lpstr>
      <vt:lpstr>Clear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COVID-19 Impact on ABC Company</dc:title>
  <dc:creator>Promise Ehizojie</dc:creator>
  <dc:description>Presentation - COVID-19 Impact on ABC Company</dc:description>
  <cp:lastModifiedBy>Promise Ehizojie</cp:lastModifiedBy>
  <cp:revision>33</cp:revision>
  <dcterms:created xsi:type="dcterms:W3CDTF">2006-08-16T00:00:00Z</dcterms:created>
  <dcterms:modified xsi:type="dcterms:W3CDTF">2025-12-14T03:00:43Z</dcterms:modified>
  <dc:identifier>DAG6_SIT2e0</dc:identifier>
</cp:coreProperties>
</file>
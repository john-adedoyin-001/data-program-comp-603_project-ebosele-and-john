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2" r:id="rId13"/>
  </p:sldIdLst>
  <p:sldSz cx="18288000" cy="10287000"/>
  <p:notesSz cx="6858000" cy="9144000"/>
  <p:embeddedFontLst>
    <p:embeddedFont>
      <p:font typeface="Clear Sans" panose="020B0604020202020204" charset="0"/>
      <p:regular r:id="rId15"/>
    </p:embeddedFont>
    <p:embeddedFont>
      <p:font typeface="Clear Sans Bold" panose="020B0604020202020204" charset="0"/>
      <p:regular r:id="rId16"/>
    </p:embeddedFont>
    <p:embeddedFont>
      <p:font typeface="Tenor Sans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0" d="100"/>
          <a:sy n="50" d="100"/>
        </p:scale>
        <p:origin x="72" y="101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3F2F96-465B-4CAF-98D2-0001C6405620}" type="datetimeFigureOut">
              <a:rPr lang="en-CA" smtClean="0"/>
              <a:t>2025-12-09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5248D5-A1C9-4C62-97B6-AA677E3080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50692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DF3FF-9510-44A0-8BC4-50F704FDA22E}" type="datetime1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CF869-7E65-4EB0-BBCD-4D6762BD196E}" type="datetime1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174E-0DA8-40CA-8D62-2A94E43841BF}" type="datetime1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CCE9C1-7429-4B7F-A942-637C6282F7C0}" type="datetime1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2D095-0B77-47B9-A309-E6CA16934254}" type="datetime1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0FD23-E105-4723-92AE-4E2DC8F6097A}" type="datetime1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37F34-DAA0-4DF4-9E1B-832ADF4DE0BF}" type="datetime1">
              <a:rPr lang="en-US" smtClean="0"/>
              <a:t>12/9/2025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2F94A-3DA8-446D-BA45-AC7166EFD0F2}" type="datetime1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F3C5B-4872-4F25-92DC-530D166B7024}" type="datetime1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3BE3D-6046-462C-A994-EB0A702CB076}" type="datetime1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4B001-C360-488C-825E-CBF99EA9B354}" type="datetime1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A4C0BB-1CB9-424A-8C24-145170257E34}" type="datetime1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1774365"/>
            <a:ext cx="9763125" cy="6293187"/>
            <a:chOff x="0" y="0"/>
            <a:chExt cx="13017500" cy="8390916"/>
          </a:xfrm>
        </p:grpSpPr>
        <p:sp>
          <p:nvSpPr>
            <p:cNvPr id="3" name="TextBox 3"/>
            <p:cNvSpPr txBox="1"/>
            <p:nvPr/>
          </p:nvSpPr>
          <p:spPr>
            <a:xfrm>
              <a:off x="0" y="190500"/>
              <a:ext cx="13017500" cy="54991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10500"/>
                </a:lnSpc>
              </a:pPr>
              <a:r>
                <a:rPr lang="en-US" sz="10500" spc="-210">
                  <a:solidFill>
                    <a:srgbClr val="074559"/>
                  </a:solidFill>
                  <a:latin typeface="Tenor Sans"/>
                  <a:ea typeface="Tenor Sans"/>
                  <a:cs typeface="Tenor Sans"/>
                  <a:sym typeface="Tenor Sans"/>
                </a:rPr>
                <a:t>COVID-19 Impact on ABC Company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6199644"/>
              <a:ext cx="13017500" cy="219127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480"/>
                </a:lnSpc>
                <a:spcBef>
                  <a:spcPct val="0"/>
                </a:spcBef>
              </a:pPr>
              <a:r>
                <a:rPr lang="en-US" sz="3200">
                  <a:solidFill>
                    <a:srgbClr val="074559"/>
                  </a:solidFill>
                  <a:latin typeface="Clear Sans"/>
                  <a:ea typeface="Clear Sans"/>
                  <a:cs typeface="Clear Sans"/>
                  <a:sym typeface="Clear Sans"/>
                </a:rPr>
                <a:t>PRESENTED BY</a:t>
              </a:r>
            </a:p>
            <a:p>
              <a:pPr marL="0" lvl="0" indent="0" algn="l">
                <a:lnSpc>
                  <a:spcPts val="4480"/>
                </a:lnSpc>
                <a:spcBef>
                  <a:spcPct val="0"/>
                </a:spcBef>
              </a:pPr>
              <a:r>
                <a:rPr lang="en-US" sz="3200">
                  <a:solidFill>
                    <a:srgbClr val="074559"/>
                  </a:solidFill>
                  <a:latin typeface="Clear Sans"/>
                  <a:ea typeface="Clear Sans"/>
                  <a:cs typeface="Clear Sans"/>
                  <a:sym typeface="Clear Sans"/>
                </a:rPr>
                <a:t>JOHN ADEDOYIN AND</a:t>
              </a:r>
            </a:p>
            <a:p>
              <a:pPr marL="0" lvl="0" indent="0" algn="l">
                <a:lnSpc>
                  <a:spcPts val="4480"/>
                </a:lnSpc>
                <a:spcBef>
                  <a:spcPct val="0"/>
                </a:spcBef>
              </a:pPr>
              <a:r>
                <a:rPr lang="en-US" sz="3200">
                  <a:solidFill>
                    <a:srgbClr val="074559"/>
                  </a:solidFill>
                  <a:latin typeface="Clear Sans"/>
                  <a:ea typeface="Clear Sans"/>
                  <a:cs typeface="Clear Sans"/>
                  <a:sym typeface="Clear Sans"/>
                </a:rPr>
                <a:t>EBOSELUIMEN EHIZOJIE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172950" y="0"/>
            <a:ext cx="6115050" cy="10287000"/>
            <a:chOff x="0" y="0"/>
            <a:chExt cx="947381" cy="159372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47381" cy="1593725"/>
            </a:xfrm>
            <a:custGeom>
              <a:avLst/>
              <a:gdLst/>
              <a:ahLst/>
              <a:cxnLst/>
              <a:rect l="l" t="t" r="r" b="b"/>
              <a:pathLst>
                <a:path w="947381" h="1593725">
                  <a:moveTo>
                    <a:pt x="0" y="0"/>
                  </a:moveTo>
                  <a:lnTo>
                    <a:pt x="947381" y="0"/>
                  </a:lnTo>
                  <a:lnTo>
                    <a:pt x="947381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t="-58" b="-58"/>
              </a:stretch>
            </a:blipFill>
          </p:spPr>
          <p:txBody>
            <a:bodyPr/>
            <a:lstStyle/>
            <a:p>
              <a:endParaRPr lang="en-CA"/>
            </a:p>
          </p:txBody>
        </p:sp>
      </p:grp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32D7F6-DCA5-F725-0D6E-BFCA45E6F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2105025" y="1562100"/>
            <a:ext cx="14077950" cy="10559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9"/>
              </a:lnSpc>
            </a:pPr>
            <a:r>
              <a:rPr lang="en-US" sz="6999" spc="-139">
                <a:solidFill>
                  <a:srgbClr val="4A90E2"/>
                </a:solidFill>
                <a:latin typeface="Tenor Sans"/>
                <a:ea typeface="Tenor Sans"/>
                <a:cs typeface="Tenor Sans"/>
                <a:sym typeface="Tenor Sans"/>
              </a:rPr>
              <a:t>COVID-19 Business Impact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7214" y="2849379"/>
            <a:ext cx="10080382" cy="7037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84"/>
              </a:lnSpc>
              <a:spcBef>
                <a:spcPct val="0"/>
              </a:spcBef>
            </a:pPr>
            <a:r>
              <a:rPr lang="en-US" sz="306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COVID accelerated parcel demand by ~38% YoY, driven entirely by existing customers increasing volumes, with the fastest relative growth in Medium and Small segments.</a:t>
            </a:r>
          </a:p>
          <a:p>
            <a:pPr marL="0" lvl="0" indent="0" algn="l">
              <a:lnSpc>
                <a:spcPts val="4284"/>
              </a:lnSpc>
              <a:spcBef>
                <a:spcPct val="0"/>
              </a:spcBef>
            </a:pPr>
            <a:r>
              <a:rPr lang="en-US" sz="3060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Evidence (bullets)</a:t>
            </a:r>
          </a:p>
          <a:p>
            <a:pPr marL="660795" lvl="1" indent="-330397" algn="l">
              <a:lnSpc>
                <a:spcPts val="4284"/>
              </a:lnSpc>
              <a:spcBef>
                <a:spcPct val="0"/>
              </a:spcBef>
              <a:buFont typeface="Arial"/>
              <a:buChar char="•"/>
            </a:pPr>
            <a:r>
              <a:rPr lang="en-US" sz="306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Network volume: +38% (2019→2020)</a:t>
            </a:r>
          </a:p>
          <a:p>
            <a:pPr marL="660795" lvl="1" indent="-330397" algn="l">
              <a:lnSpc>
                <a:spcPts val="4284"/>
              </a:lnSpc>
              <a:spcBef>
                <a:spcPct val="0"/>
              </a:spcBef>
              <a:buFont typeface="Arial"/>
              <a:buChar char="•"/>
            </a:pPr>
            <a:r>
              <a:rPr lang="en-US" sz="306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Enterprise: +37%, core volume engine</a:t>
            </a:r>
          </a:p>
          <a:p>
            <a:pPr marL="660795" lvl="1" indent="-330397" algn="l">
              <a:lnSpc>
                <a:spcPts val="4284"/>
              </a:lnSpc>
              <a:spcBef>
                <a:spcPct val="0"/>
              </a:spcBef>
              <a:buFont typeface="Arial"/>
              <a:buChar char="•"/>
            </a:pPr>
            <a:r>
              <a:rPr lang="en-US" sz="306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Medium/Small: +41% / +51%, gaining share</a:t>
            </a:r>
          </a:p>
          <a:p>
            <a:pPr marL="660795" lvl="1" indent="-330397" algn="l">
              <a:lnSpc>
                <a:spcPts val="4284"/>
              </a:lnSpc>
              <a:spcBef>
                <a:spcPct val="0"/>
              </a:spcBef>
              <a:buFont typeface="Arial"/>
              <a:buChar char="•"/>
            </a:pPr>
            <a:r>
              <a:rPr lang="en-US" sz="306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0% new customers under observation definition</a:t>
            </a:r>
          </a:p>
          <a:p>
            <a:pPr marL="0" lvl="0" indent="0" algn="l">
              <a:lnSpc>
                <a:spcPts val="4284"/>
              </a:lnSpc>
              <a:spcBef>
                <a:spcPct val="0"/>
              </a:spcBef>
            </a:pPr>
            <a:r>
              <a:rPr lang="en-US" sz="3060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Implication</a:t>
            </a:r>
          </a:p>
          <a:p>
            <a:pPr marL="0" lvl="0" indent="0" algn="l">
              <a:lnSpc>
                <a:spcPts val="4284"/>
              </a:lnSpc>
              <a:spcBef>
                <a:spcPct val="0"/>
              </a:spcBef>
            </a:pPr>
            <a:r>
              <a:rPr lang="en-US" sz="306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 Future growth opportunity is mid-market and emerging e-commerce, while Enterprise must be protected</a:t>
            </a:r>
          </a:p>
          <a:p>
            <a:pPr marL="0" lvl="0" indent="0" algn="ctr">
              <a:lnSpc>
                <a:spcPts val="4284"/>
              </a:lnSpc>
              <a:spcBef>
                <a:spcPct val="0"/>
              </a:spcBef>
            </a:pPr>
            <a:endParaRPr lang="en-US" sz="3060" dirty="0">
              <a:solidFill>
                <a:srgbClr val="074559"/>
              </a:solidFill>
              <a:latin typeface="Clear Sans"/>
              <a:ea typeface="Clear Sans"/>
              <a:cs typeface="Clear Sans"/>
              <a:sym typeface="Clear San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E88876-74C9-27A8-1CC6-9A09EB87C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8" name="Picture 7" descr="A graph of numbers and a number of people&#10;&#10;AI-generated content may be incorrect.">
            <a:extLst>
              <a:ext uri="{FF2B5EF4-FFF2-40B4-BE49-F238E27FC236}">
                <a16:creationId xmlns:a16="http://schemas.microsoft.com/office/drawing/2014/main" id="{BE1CDFF5-7B56-4F1B-F2C2-25BFF9F34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2200" y="3009900"/>
            <a:ext cx="8113346" cy="5867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359133" y="833678"/>
            <a:ext cx="17090469" cy="904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080"/>
              </a:lnSpc>
            </a:pPr>
            <a:r>
              <a:rPr lang="en-US" sz="5900" spc="-118">
                <a:solidFill>
                  <a:srgbClr val="4A90E2"/>
                </a:solidFill>
                <a:latin typeface="Tenor Sans"/>
                <a:ea typeface="Tenor Sans"/>
                <a:cs typeface="Tenor Sans"/>
                <a:sym typeface="Tenor Sans"/>
              </a:rPr>
              <a:t>When were customer volumes first impacted?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9035" y="2844384"/>
            <a:ext cx="9660646" cy="5956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88"/>
              </a:lnSpc>
              <a:spcBef>
                <a:spcPct val="0"/>
              </a:spcBef>
            </a:pPr>
            <a:r>
              <a:rPr lang="en-US" sz="3063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Customer volumes first inflected upward in mid-March 2020 (Week ~11), aligning with the onset of pandemic restrictions.</a:t>
            </a:r>
          </a:p>
          <a:p>
            <a:pPr marL="0" lvl="0" indent="0" algn="l">
              <a:lnSpc>
                <a:spcPts val="4288"/>
              </a:lnSpc>
              <a:spcBef>
                <a:spcPct val="0"/>
              </a:spcBef>
            </a:pPr>
            <a:r>
              <a:rPr lang="en-US" sz="3063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Supporting Evidence</a:t>
            </a:r>
          </a:p>
          <a:p>
            <a:pPr marL="661355" lvl="1" indent="-330677" algn="l">
              <a:lnSpc>
                <a:spcPts val="4288"/>
              </a:lnSpc>
              <a:spcBef>
                <a:spcPct val="0"/>
              </a:spcBef>
              <a:buFont typeface="Arial"/>
              <a:buChar char="•"/>
            </a:pPr>
            <a:r>
              <a:rPr lang="en-US" sz="3063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Pre-COVID (Weeks 1-10): normal patterns</a:t>
            </a:r>
          </a:p>
          <a:p>
            <a:pPr marL="661355" lvl="1" indent="-330677" algn="l">
              <a:lnSpc>
                <a:spcPts val="4288"/>
              </a:lnSpc>
              <a:spcBef>
                <a:spcPct val="0"/>
              </a:spcBef>
              <a:buFont typeface="Arial"/>
              <a:buChar char="•"/>
            </a:pPr>
            <a:r>
              <a:rPr lang="en-US" sz="3063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Sharp volume surge Weeks 11–16</a:t>
            </a:r>
          </a:p>
          <a:p>
            <a:pPr marL="661355" lvl="1" indent="-330677" algn="l">
              <a:lnSpc>
                <a:spcPts val="4288"/>
              </a:lnSpc>
              <a:spcBef>
                <a:spcPct val="0"/>
              </a:spcBef>
              <a:buFont typeface="Arial"/>
              <a:buChar char="•"/>
            </a:pPr>
            <a:r>
              <a:rPr lang="en-US" sz="3063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Sustained elevated volumes till the end of 2020</a:t>
            </a:r>
          </a:p>
          <a:p>
            <a:pPr marL="0" lvl="0" indent="0" algn="l">
              <a:lnSpc>
                <a:spcPts val="4288"/>
              </a:lnSpc>
              <a:spcBef>
                <a:spcPct val="0"/>
              </a:spcBef>
            </a:pPr>
            <a:r>
              <a:rPr lang="en-US" sz="3063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Implication</a:t>
            </a:r>
          </a:p>
          <a:p>
            <a:pPr marL="0" lvl="0" indent="0" algn="l">
              <a:lnSpc>
                <a:spcPts val="4288"/>
              </a:lnSpc>
              <a:spcBef>
                <a:spcPct val="0"/>
              </a:spcBef>
            </a:pPr>
            <a:r>
              <a:rPr lang="en-US" sz="3063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 COVID acted as a structural demand shock, not a short spike.</a:t>
            </a:r>
          </a:p>
          <a:p>
            <a:pPr marL="0" lvl="0" indent="0" algn="ctr">
              <a:lnSpc>
                <a:spcPts val="4288"/>
              </a:lnSpc>
              <a:spcBef>
                <a:spcPct val="0"/>
              </a:spcBef>
            </a:pPr>
            <a:endParaRPr lang="en-US" sz="3063">
              <a:solidFill>
                <a:srgbClr val="074559"/>
              </a:solidFill>
              <a:latin typeface="Clear Sans"/>
              <a:ea typeface="Clear Sans"/>
              <a:cs typeface="Clear Sans"/>
              <a:sym typeface="Clear San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5DE9AE-30E5-DD5F-BF1F-4A23350F5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9" name="Picture 8" descr="A graph of a line graph&#10;&#10;AI-generated content may be incorrect.">
            <a:extLst>
              <a:ext uri="{FF2B5EF4-FFF2-40B4-BE49-F238E27FC236}">
                <a16:creationId xmlns:a16="http://schemas.microsoft.com/office/drawing/2014/main" id="{DDBA1CCA-3CF2-8628-40CC-CD18DEEF41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2200" y="2476500"/>
            <a:ext cx="8023538" cy="572288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359133" y="1019175"/>
            <a:ext cx="17090469" cy="904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080"/>
              </a:lnSpc>
            </a:pPr>
            <a:r>
              <a:rPr lang="en-US" sz="5900" spc="-118">
                <a:solidFill>
                  <a:srgbClr val="4A90E2"/>
                </a:solidFill>
                <a:latin typeface="Tenor Sans"/>
                <a:ea typeface="Tenor Sans"/>
                <a:cs typeface="Tenor Sans"/>
                <a:sym typeface="Tenor Sans"/>
              </a:rPr>
              <a:t>What events contributed to the change?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9035" y="2844384"/>
            <a:ext cx="9660646" cy="70373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88"/>
              </a:lnSpc>
              <a:spcBef>
                <a:spcPct val="0"/>
              </a:spcBef>
            </a:pPr>
            <a:r>
              <a:rPr lang="en-US" sz="3063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The surge was driven by lockdowns, store closures, and rapid e-commerce adoption, followed by stimulus cycles and holiday peak effects.</a:t>
            </a:r>
          </a:p>
          <a:p>
            <a:pPr marL="0" lvl="0" indent="0" algn="l">
              <a:lnSpc>
                <a:spcPts val="4288"/>
              </a:lnSpc>
              <a:spcBef>
                <a:spcPct val="0"/>
              </a:spcBef>
            </a:pPr>
            <a:r>
              <a:rPr lang="en-US" sz="3063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Timeline Drivers</a:t>
            </a:r>
          </a:p>
          <a:p>
            <a:pPr marL="661355" lvl="1" indent="-330678" algn="l">
              <a:lnSpc>
                <a:spcPts val="4288"/>
              </a:lnSpc>
              <a:spcBef>
                <a:spcPct val="0"/>
              </a:spcBef>
              <a:buFont typeface="Arial"/>
              <a:buChar char="•"/>
            </a:pPr>
            <a:r>
              <a:rPr lang="en-US" sz="3063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Week 11: Onset of lockdowns</a:t>
            </a:r>
          </a:p>
          <a:p>
            <a:pPr marL="661355" lvl="1" indent="-330678" algn="l">
              <a:lnSpc>
                <a:spcPts val="4288"/>
              </a:lnSpc>
              <a:spcBef>
                <a:spcPct val="0"/>
              </a:spcBef>
              <a:buFont typeface="Arial"/>
              <a:buChar char="•"/>
            </a:pPr>
            <a:r>
              <a:rPr lang="en-US" sz="3063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Week 12–20: Shift to online retail</a:t>
            </a:r>
          </a:p>
          <a:p>
            <a:pPr marL="661355" lvl="1" indent="-330678" algn="l">
              <a:lnSpc>
                <a:spcPts val="4288"/>
              </a:lnSpc>
              <a:spcBef>
                <a:spcPct val="0"/>
              </a:spcBef>
              <a:buFont typeface="Arial"/>
              <a:buChar char="•"/>
            </a:pPr>
            <a:r>
              <a:rPr lang="en-US" sz="3063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Summer 2020: Stimulus, re-opening</a:t>
            </a:r>
          </a:p>
          <a:p>
            <a:pPr marL="661355" lvl="1" indent="-330678" algn="l">
              <a:lnSpc>
                <a:spcPts val="4288"/>
              </a:lnSpc>
              <a:spcBef>
                <a:spcPct val="0"/>
              </a:spcBef>
              <a:buFont typeface="Arial"/>
              <a:buChar char="•"/>
            </a:pPr>
            <a:r>
              <a:rPr lang="en-US" sz="3063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Q4 2020: E-commerce holiday peak</a:t>
            </a:r>
          </a:p>
          <a:p>
            <a:pPr marL="0" lvl="0" indent="0" algn="l">
              <a:lnSpc>
                <a:spcPts val="4288"/>
              </a:lnSpc>
              <a:spcBef>
                <a:spcPct val="0"/>
              </a:spcBef>
            </a:pPr>
            <a:r>
              <a:rPr lang="en-US" sz="3063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Implication</a:t>
            </a:r>
          </a:p>
          <a:p>
            <a:pPr marL="0" lvl="0" indent="0" algn="l">
              <a:lnSpc>
                <a:spcPts val="4288"/>
              </a:lnSpc>
              <a:spcBef>
                <a:spcPct val="0"/>
              </a:spcBef>
            </a:pPr>
            <a:r>
              <a:rPr lang="en-US" sz="3063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 Demand linked tightly to consumer behavior changes and policy events.</a:t>
            </a:r>
          </a:p>
          <a:p>
            <a:pPr marL="0" lvl="0" indent="0" algn="l">
              <a:lnSpc>
                <a:spcPts val="4288"/>
              </a:lnSpc>
              <a:spcBef>
                <a:spcPct val="0"/>
              </a:spcBef>
            </a:pPr>
            <a:endParaRPr lang="en-US" sz="3063">
              <a:solidFill>
                <a:srgbClr val="074559"/>
              </a:solidFill>
              <a:latin typeface="Clear Sans"/>
              <a:ea typeface="Clear Sans"/>
              <a:cs typeface="Clear Sans"/>
              <a:sym typeface="Clear Sans"/>
            </a:endParaRPr>
          </a:p>
          <a:p>
            <a:pPr marL="0" lvl="0" indent="0" algn="ctr">
              <a:lnSpc>
                <a:spcPts val="4288"/>
              </a:lnSpc>
              <a:spcBef>
                <a:spcPct val="0"/>
              </a:spcBef>
            </a:pPr>
            <a:endParaRPr lang="en-US" sz="3063">
              <a:solidFill>
                <a:srgbClr val="074559"/>
              </a:solidFill>
              <a:latin typeface="Clear Sans"/>
              <a:ea typeface="Clear Sans"/>
              <a:cs typeface="Clear Sans"/>
              <a:sym typeface="Clear San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C42532-4F6E-88E0-7396-18D8EEF06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6" name="Picture 5" descr="A graph of a line graph&#10;&#10;AI-generated content may be incorrect.">
            <a:extLst>
              <a:ext uri="{FF2B5EF4-FFF2-40B4-BE49-F238E27FC236}">
                <a16:creationId xmlns:a16="http://schemas.microsoft.com/office/drawing/2014/main" id="{7B4F8732-E7C8-411F-F6DB-F86AF4BBEC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2200" y="2476500"/>
            <a:ext cx="8023538" cy="572288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359133" y="1019175"/>
            <a:ext cx="17090469" cy="904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080"/>
              </a:lnSpc>
            </a:pPr>
            <a:r>
              <a:rPr lang="en-US" sz="5900" spc="-118">
                <a:solidFill>
                  <a:srgbClr val="4A90E2"/>
                </a:solidFill>
                <a:latin typeface="Tenor Sans"/>
                <a:ea typeface="Tenor Sans"/>
                <a:cs typeface="Tenor Sans"/>
                <a:sym typeface="Tenor Sans"/>
              </a:rPr>
              <a:t>How did COVID impact peak season in 2020?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9035" y="2844384"/>
            <a:ext cx="8620802" cy="71266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288"/>
              </a:lnSpc>
              <a:spcBef>
                <a:spcPct val="0"/>
              </a:spcBef>
            </a:pPr>
            <a:r>
              <a:rPr lang="en-US" sz="3063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Peak season volumes were </a:t>
            </a:r>
            <a:r>
              <a:rPr lang="en-US" sz="3063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higher than 2019</a:t>
            </a:r>
            <a:r>
              <a:rPr lang="en-US" sz="3063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 and began </a:t>
            </a:r>
            <a:r>
              <a:rPr lang="en-US" sz="3063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earlier</a:t>
            </a:r>
            <a:r>
              <a:rPr lang="en-US" sz="3063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, extending the surge across November–December.</a:t>
            </a:r>
          </a:p>
          <a:p>
            <a:pPr marL="0" lvl="0" indent="0" algn="l">
              <a:lnSpc>
                <a:spcPts val="4288"/>
              </a:lnSpc>
              <a:spcBef>
                <a:spcPct val="0"/>
              </a:spcBef>
            </a:pPr>
            <a:r>
              <a:rPr lang="en-US" sz="3063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Evidence</a:t>
            </a:r>
          </a:p>
          <a:p>
            <a:pPr marL="661355" lvl="1" indent="-330678" algn="l">
              <a:lnSpc>
                <a:spcPts val="4288"/>
              </a:lnSpc>
              <a:spcBef>
                <a:spcPct val="0"/>
              </a:spcBef>
              <a:buFont typeface="Arial"/>
              <a:buChar char="•"/>
            </a:pPr>
            <a:r>
              <a:rPr lang="en-US" sz="3063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Peak week volume </a:t>
            </a:r>
            <a:r>
              <a:rPr lang="en-US" sz="3063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up vs 2019 peak</a:t>
            </a:r>
          </a:p>
          <a:p>
            <a:pPr marL="661355" lvl="1" indent="-330678" algn="l">
              <a:lnSpc>
                <a:spcPts val="4288"/>
              </a:lnSpc>
              <a:spcBef>
                <a:spcPct val="0"/>
              </a:spcBef>
              <a:buFont typeface="Arial"/>
              <a:buChar char="•"/>
            </a:pPr>
            <a:r>
              <a:rPr lang="en-US" sz="3063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Extended peak </a:t>
            </a:r>
            <a:r>
              <a:rPr lang="en-US" sz="3063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Weeks 45–51</a:t>
            </a:r>
            <a:r>
              <a:rPr lang="en-US" sz="3063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 (longer duration)</a:t>
            </a:r>
          </a:p>
          <a:p>
            <a:pPr marL="661355" lvl="1" indent="-330678" algn="l">
              <a:lnSpc>
                <a:spcPts val="4288"/>
              </a:lnSpc>
              <a:spcBef>
                <a:spcPct val="0"/>
              </a:spcBef>
              <a:buFont typeface="Arial"/>
              <a:buChar char="•"/>
            </a:pPr>
            <a:r>
              <a:rPr lang="en-US" sz="3063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High demand sustained from COVID + holiday</a:t>
            </a:r>
          </a:p>
          <a:p>
            <a:pPr marL="0" lvl="0" indent="0" algn="l">
              <a:lnSpc>
                <a:spcPts val="4288"/>
              </a:lnSpc>
              <a:spcBef>
                <a:spcPct val="0"/>
              </a:spcBef>
            </a:pPr>
            <a:r>
              <a:rPr lang="en-US" sz="3063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Implication</a:t>
            </a:r>
          </a:p>
          <a:p>
            <a:pPr marL="0" lvl="0" indent="0" algn="l">
              <a:lnSpc>
                <a:spcPts val="4288"/>
              </a:lnSpc>
              <a:spcBef>
                <a:spcPct val="0"/>
              </a:spcBef>
            </a:pPr>
            <a:r>
              <a:rPr lang="en-US" sz="3063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 Requires </a:t>
            </a:r>
            <a:r>
              <a:rPr lang="en-US" sz="3063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earlier capacity planning and peak readiness</a:t>
            </a:r>
            <a:r>
              <a:rPr lang="en-US" sz="3063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 going forward.</a:t>
            </a:r>
          </a:p>
          <a:p>
            <a:pPr marL="0" lvl="0" indent="0" algn="ctr">
              <a:lnSpc>
                <a:spcPts val="4288"/>
              </a:lnSpc>
              <a:spcBef>
                <a:spcPct val="0"/>
              </a:spcBef>
            </a:pPr>
            <a:endParaRPr lang="en-US" sz="3063" dirty="0">
              <a:solidFill>
                <a:srgbClr val="074559"/>
              </a:solidFill>
              <a:latin typeface="Clear Sans"/>
              <a:ea typeface="Clear Sans"/>
              <a:cs typeface="Clear Sans"/>
              <a:sym typeface="Clear San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F34DC8-42E1-A7B1-E4CE-4BB503D00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6" name="Picture 5" descr="A graph of a number of people&#10;&#10;AI-generated content may be incorrect.">
            <a:extLst>
              <a:ext uri="{FF2B5EF4-FFF2-40B4-BE49-F238E27FC236}">
                <a16:creationId xmlns:a16="http://schemas.microsoft.com/office/drawing/2014/main" id="{28A074EF-8DB7-2FCD-7D60-089F9BD60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2768551"/>
            <a:ext cx="10080171" cy="64992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359133" y="1019175"/>
            <a:ext cx="17090469" cy="828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80"/>
              </a:lnSpc>
            </a:pPr>
            <a:r>
              <a:rPr lang="en-US" sz="5400" spc="-108">
                <a:solidFill>
                  <a:srgbClr val="4A90E2"/>
                </a:solidFill>
                <a:latin typeface="Tenor Sans"/>
                <a:ea typeface="Tenor Sans"/>
                <a:cs typeface="Tenor Sans"/>
                <a:sym typeface="Tenor Sans"/>
              </a:rPr>
              <a:t>How has COVID affected different customer groups?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9035" y="2844384"/>
            <a:ext cx="9660646" cy="6494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88"/>
              </a:lnSpc>
              <a:spcBef>
                <a:spcPct val="0"/>
              </a:spcBef>
            </a:pPr>
            <a:r>
              <a:rPr lang="en-US" sz="3063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All groups grew, but </a:t>
            </a:r>
            <a:r>
              <a:rPr lang="en-US" sz="3063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Medium and Small outpaced the network,</a:t>
            </a:r>
            <a:r>
              <a:rPr lang="en-US" sz="3063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 while Enterprise delivered the </a:t>
            </a:r>
            <a:r>
              <a:rPr lang="en-US" sz="3063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largest absolute lift.</a:t>
            </a:r>
          </a:p>
          <a:p>
            <a:pPr marL="0" lvl="0" indent="0" algn="l">
              <a:lnSpc>
                <a:spcPts val="4288"/>
              </a:lnSpc>
              <a:spcBef>
                <a:spcPct val="0"/>
              </a:spcBef>
            </a:pPr>
            <a:r>
              <a:rPr lang="en-US" sz="3063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Evidence</a:t>
            </a:r>
          </a:p>
          <a:p>
            <a:pPr marL="661355" lvl="1" indent="-330678" algn="l">
              <a:lnSpc>
                <a:spcPts val="4288"/>
              </a:lnSpc>
              <a:spcBef>
                <a:spcPct val="0"/>
              </a:spcBef>
              <a:buFont typeface="Arial"/>
              <a:buChar char="•"/>
            </a:pPr>
            <a:r>
              <a:rPr lang="en-US" sz="3063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Enterprise: </a:t>
            </a:r>
            <a:r>
              <a:rPr lang="en-US" sz="3063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+37%</a:t>
            </a:r>
          </a:p>
          <a:p>
            <a:pPr marL="661355" lvl="1" indent="-330678" algn="l">
              <a:lnSpc>
                <a:spcPts val="4288"/>
              </a:lnSpc>
              <a:spcBef>
                <a:spcPct val="0"/>
              </a:spcBef>
              <a:buFont typeface="Arial"/>
              <a:buChar char="•"/>
            </a:pPr>
            <a:r>
              <a:rPr lang="en-US" sz="3063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Large: </a:t>
            </a:r>
            <a:r>
              <a:rPr lang="en-US" sz="3063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+33%</a:t>
            </a:r>
          </a:p>
          <a:p>
            <a:pPr marL="661355" lvl="1" indent="-330678" algn="l">
              <a:lnSpc>
                <a:spcPts val="4288"/>
              </a:lnSpc>
              <a:spcBef>
                <a:spcPct val="0"/>
              </a:spcBef>
              <a:buFont typeface="Arial"/>
              <a:buChar char="•"/>
            </a:pPr>
            <a:r>
              <a:rPr lang="en-US" sz="3063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Medium: </a:t>
            </a:r>
            <a:r>
              <a:rPr lang="en-US" sz="3063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+41%</a:t>
            </a:r>
          </a:p>
          <a:p>
            <a:pPr marL="661355" lvl="1" indent="-330678" algn="l">
              <a:lnSpc>
                <a:spcPts val="4288"/>
              </a:lnSpc>
              <a:spcBef>
                <a:spcPct val="0"/>
              </a:spcBef>
              <a:buFont typeface="Arial"/>
              <a:buChar char="•"/>
            </a:pPr>
            <a:r>
              <a:rPr lang="en-US" sz="3063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Small: </a:t>
            </a:r>
            <a:r>
              <a:rPr lang="en-US" sz="3063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+51%</a:t>
            </a:r>
          </a:p>
          <a:p>
            <a:pPr marL="0" lvl="0" indent="0" algn="l">
              <a:lnSpc>
                <a:spcPts val="4288"/>
              </a:lnSpc>
              <a:spcBef>
                <a:spcPct val="0"/>
              </a:spcBef>
            </a:pPr>
            <a:r>
              <a:rPr lang="en-US" sz="3063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Implication</a:t>
            </a:r>
          </a:p>
          <a:p>
            <a:pPr marL="0" lvl="0" indent="0" algn="l">
              <a:lnSpc>
                <a:spcPts val="4288"/>
              </a:lnSpc>
              <a:spcBef>
                <a:spcPct val="0"/>
              </a:spcBef>
            </a:pPr>
            <a:r>
              <a:rPr lang="en-US" sz="3063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 Segment strategy should diversify focus beyond Enterprise.</a:t>
            </a:r>
          </a:p>
          <a:p>
            <a:pPr marL="0" lvl="0" indent="0" algn="ctr">
              <a:lnSpc>
                <a:spcPts val="4288"/>
              </a:lnSpc>
              <a:spcBef>
                <a:spcPct val="0"/>
              </a:spcBef>
            </a:pPr>
            <a:endParaRPr lang="en-US" sz="3063">
              <a:solidFill>
                <a:srgbClr val="074559"/>
              </a:solidFill>
              <a:latin typeface="Clear Sans"/>
              <a:ea typeface="Clear Sans"/>
              <a:cs typeface="Clear Sans"/>
              <a:sym typeface="Clear San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1D9539-127F-5126-1893-3476D90DD7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2" name="Picture 1" descr="A graph of numbers and a number of people&#10;&#10;AI-generated content may be incorrect.">
            <a:extLst>
              <a:ext uri="{FF2B5EF4-FFF2-40B4-BE49-F238E27FC236}">
                <a16:creationId xmlns:a16="http://schemas.microsoft.com/office/drawing/2014/main" id="{3593AA6E-B4A1-4939-B533-8B5301BD0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256" y="2860713"/>
            <a:ext cx="8113346" cy="5867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359133" y="1019175"/>
            <a:ext cx="17090469" cy="828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80"/>
              </a:lnSpc>
            </a:pPr>
            <a:r>
              <a:rPr lang="en-US" sz="5400" spc="-108">
                <a:solidFill>
                  <a:srgbClr val="4A90E2"/>
                </a:solidFill>
                <a:latin typeface="Tenor Sans"/>
                <a:ea typeface="Tenor Sans"/>
                <a:cs typeface="Tenor Sans"/>
                <a:sym typeface="Tenor Sans"/>
              </a:rPr>
              <a:t>% Growing vs Stable vs Declining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63107" y="2145838"/>
            <a:ext cx="8195093" cy="84210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396"/>
              </a:lnSpc>
              <a:spcBef>
                <a:spcPct val="0"/>
              </a:spcBef>
            </a:pP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Customer distribution shows </a:t>
            </a:r>
            <a:r>
              <a:rPr lang="en-US" sz="3140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balanced performance</a:t>
            </a: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, with the majority </a:t>
            </a:r>
            <a:r>
              <a:rPr lang="en-US" sz="3140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growing or moderately growing</a:t>
            </a: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, and a smaller share declining.</a:t>
            </a:r>
          </a:p>
          <a:p>
            <a:pPr marL="0" lvl="0" indent="0" algn="l">
              <a:lnSpc>
                <a:spcPts val="4396"/>
              </a:lnSpc>
              <a:spcBef>
                <a:spcPct val="0"/>
              </a:spcBef>
            </a:pPr>
            <a:r>
              <a:rPr lang="en-US" sz="3140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Evidence</a:t>
            </a:r>
          </a:p>
          <a:p>
            <a:pPr marL="678059" lvl="1" indent="-339030" algn="l">
              <a:lnSpc>
                <a:spcPts val="4396"/>
              </a:lnSpc>
              <a:spcBef>
                <a:spcPct val="0"/>
              </a:spcBef>
              <a:buFont typeface="Arial"/>
              <a:buChar char="•"/>
            </a:pP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High-growth customers: outsized gains (&gt; network)</a:t>
            </a:r>
          </a:p>
          <a:p>
            <a:pPr marL="678059" lvl="1" indent="-339030" algn="l">
              <a:lnSpc>
                <a:spcPts val="4396"/>
              </a:lnSpc>
              <a:spcBef>
                <a:spcPct val="0"/>
              </a:spcBef>
              <a:buFont typeface="Arial"/>
              <a:buChar char="•"/>
            </a:pP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Moderate growth: align with network growth</a:t>
            </a:r>
          </a:p>
          <a:p>
            <a:pPr marL="678059" lvl="1" indent="-339030" algn="l">
              <a:lnSpc>
                <a:spcPts val="4396"/>
              </a:lnSpc>
              <a:spcBef>
                <a:spcPct val="0"/>
              </a:spcBef>
              <a:buFont typeface="Arial"/>
              <a:buChar char="•"/>
            </a:pP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Declining: small minority with lower 2020 volume</a:t>
            </a:r>
          </a:p>
          <a:p>
            <a:pPr marL="0" lvl="0" indent="0" algn="l">
              <a:lnSpc>
                <a:spcPts val="4396"/>
              </a:lnSpc>
              <a:spcBef>
                <a:spcPct val="0"/>
              </a:spcBef>
            </a:pPr>
            <a:r>
              <a:rPr lang="en-US" sz="3140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Implication</a:t>
            </a:r>
          </a:p>
          <a:p>
            <a:pPr marL="0" lvl="0" indent="0" algn="l">
              <a:lnSpc>
                <a:spcPts val="4396"/>
              </a:lnSpc>
              <a:spcBef>
                <a:spcPct val="0"/>
              </a:spcBef>
            </a:pP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 Customer performance is uneven and requires targeted playbooks.</a:t>
            </a:r>
          </a:p>
          <a:p>
            <a:pPr marL="0" lvl="0" indent="0" algn="ctr">
              <a:lnSpc>
                <a:spcPts val="4396"/>
              </a:lnSpc>
              <a:spcBef>
                <a:spcPct val="0"/>
              </a:spcBef>
            </a:pPr>
            <a:endParaRPr lang="en-US" sz="3140" dirty="0">
              <a:solidFill>
                <a:srgbClr val="074559"/>
              </a:solidFill>
              <a:latin typeface="Clear Sans"/>
              <a:ea typeface="Clear Sans"/>
              <a:cs typeface="Clear Sans"/>
              <a:sym typeface="Clear San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17A2DA-AB9E-5E0D-64E5-0BB656B9E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6" name="Picture 5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57DEA6C0-0B40-C1F3-83B0-F147541B9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5800" y="2095500"/>
            <a:ext cx="9719094" cy="604566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359133" y="1019175"/>
            <a:ext cx="17090469" cy="828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80"/>
              </a:lnSpc>
            </a:pPr>
            <a:r>
              <a:rPr lang="en-US" sz="5400" spc="-108">
                <a:solidFill>
                  <a:srgbClr val="4A90E2"/>
                </a:solidFill>
                <a:latin typeface="Tenor Sans"/>
                <a:ea typeface="Tenor Sans"/>
                <a:cs typeface="Tenor Sans"/>
                <a:sym typeface="Tenor Sans"/>
              </a:rPr>
              <a:t>% New Customers During COVID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286000" y="3314700"/>
            <a:ext cx="13716000" cy="44712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396"/>
              </a:lnSpc>
              <a:spcBef>
                <a:spcPct val="0"/>
              </a:spcBef>
            </a:pPr>
            <a:r>
              <a:rPr lang="en-US" sz="3140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0% of customers were new</a:t>
            </a: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 during the COVID period by the observation-period definition used.</a:t>
            </a:r>
          </a:p>
          <a:p>
            <a:pPr marL="0" lvl="0" indent="0" algn="l">
              <a:lnSpc>
                <a:spcPts val="4396"/>
              </a:lnSpc>
              <a:spcBef>
                <a:spcPct val="0"/>
              </a:spcBef>
            </a:pPr>
            <a:r>
              <a:rPr lang="en-US" sz="3140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Evidence</a:t>
            </a:r>
          </a:p>
          <a:p>
            <a:pPr marL="678059" lvl="1" indent="-339030" algn="l">
              <a:lnSpc>
                <a:spcPts val="4396"/>
              </a:lnSpc>
              <a:spcBef>
                <a:spcPct val="0"/>
              </a:spcBef>
              <a:buFont typeface="Arial"/>
              <a:buChar char="•"/>
            </a:pP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No customer shipped in 2020 without activity in 2019 (Weeks 11–53 vs Weeks 11–53)</a:t>
            </a:r>
          </a:p>
          <a:p>
            <a:pPr marL="0" lvl="0" indent="0" algn="l">
              <a:lnSpc>
                <a:spcPts val="4396"/>
              </a:lnSpc>
              <a:spcBef>
                <a:spcPct val="0"/>
              </a:spcBef>
            </a:pPr>
            <a:r>
              <a:rPr lang="en-US" sz="3140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Implication</a:t>
            </a:r>
          </a:p>
          <a:p>
            <a:pPr marL="0" lvl="0" indent="0" algn="l">
              <a:lnSpc>
                <a:spcPts val="4396"/>
              </a:lnSpc>
              <a:spcBef>
                <a:spcPct val="0"/>
              </a:spcBef>
            </a:pP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 Growth came from </a:t>
            </a:r>
            <a:r>
              <a:rPr lang="en-US" sz="3140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existing accounts</a:t>
            </a: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, not acquisition.</a:t>
            </a:r>
          </a:p>
          <a:p>
            <a:pPr marL="0" lvl="0" indent="0" algn="ctr">
              <a:lnSpc>
                <a:spcPts val="4396"/>
              </a:lnSpc>
              <a:spcBef>
                <a:spcPct val="0"/>
              </a:spcBef>
            </a:pPr>
            <a:endParaRPr lang="en-US" sz="3140" dirty="0">
              <a:solidFill>
                <a:srgbClr val="074559"/>
              </a:solidFill>
              <a:latin typeface="Clear Sans"/>
              <a:ea typeface="Clear Sans"/>
              <a:cs typeface="Clear Sans"/>
              <a:sym typeface="Clear San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D31AA6-8016-3E14-E660-657598F5B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359133" y="1019175"/>
            <a:ext cx="17090469" cy="828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80"/>
              </a:lnSpc>
            </a:pPr>
            <a:r>
              <a:rPr lang="en-US" sz="5400" spc="-108">
                <a:solidFill>
                  <a:srgbClr val="4A90E2"/>
                </a:solidFill>
                <a:latin typeface="Tenor Sans"/>
                <a:ea typeface="Tenor Sans"/>
                <a:cs typeface="Tenor Sans"/>
                <a:sym typeface="Tenor Sans"/>
              </a:rPr>
              <a:t>% Lost Customers During COVID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96493" y="2742818"/>
            <a:ext cx="5899507" cy="6163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396"/>
              </a:lnSpc>
              <a:spcBef>
                <a:spcPct val="0"/>
              </a:spcBef>
            </a:pP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Customer loss was </a:t>
            </a:r>
            <a:r>
              <a:rPr lang="en-US" sz="3140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negligible</a:t>
            </a: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 during the COVID period under the same definition.</a:t>
            </a:r>
          </a:p>
          <a:p>
            <a:pPr marL="0" lvl="0" indent="0" algn="l">
              <a:lnSpc>
                <a:spcPts val="4396"/>
              </a:lnSpc>
              <a:spcBef>
                <a:spcPct val="0"/>
              </a:spcBef>
            </a:pPr>
            <a:r>
              <a:rPr lang="en-US" sz="3140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Evidence</a:t>
            </a:r>
          </a:p>
          <a:p>
            <a:pPr marL="678059" lvl="1" indent="-339030" algn="l">
              <a:lnSpc>
                <a:spcPts val="4396"/>
              </a:lnSpc>
              <a:spcBef>
                <a:spcPct val="0"/>
              </a:spcBef>
              <a:buFont typeface="Arial"/>
              <a:buChar char="•"/>
            </a:pP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Virtually all customers active in 2019 also shipped in 2020</a:t>
            </a:r>
          </a:p>
          <a:p>
            <a:pPr marL="0" lvl="0" indent="0" algn="l">
              <a:lnSpc>
                <a:spcPts val="4396"/>
              </a:lnSpc>
              <a:spcBef>
                <a:spcPct val="0"/>
              </a:spcBef>
            </a:pPr>
            <a:r>
              <a:rPr lang="en-US" sz="3140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Implication</a:t>
            </a:r>
          </a:p>
          <a:p>
            <a:pPr marL="0" lvl="0" indent="0" algn="l">
              <a:lnSpc>
                <a:spcPts val="4396"/>
              </a:lnSpc>
              <a:spcBef>
                <a:spcPct val="0"/>
              </a:spcBef>
            </a:pP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 COVID </a:t>
            </a:r>
            <a:r>
              <a:rPr lang="en-US" sz="3140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expanded engagement </a:t>
            </a: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rather than suppressing activity.</a:t>
            </a:r>
          </a:p>
          <a:p>
            <a:pPr marL="0" lvl="0" indent="0" algn="ctr">
              <a:lnSpc>
                <a:spcPts val="4396"/>
              </a:lnSpc>
              <a:spcBef>
                <a:spcPct val="0"/>
              </a:spcBef>
            </a:pPr>
            <a:endParaRPr lang="en-US" sz="3140" dirty="0">
              <a:solidFill>
                <a:srgbClr val="074559"/>
              </a:solidFill>
              <a:latin typeface="Clear Sans"/>
              <a:ea typeface="Clear Sans"/>
              <a:cs typeface="Clear Sans"/>
              <a:sym typeface="Clear San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51C385-F2FB-8497-B9AE-8BEEB3636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6" name="Picture 5" descr="A graph of a number of people&#10;&#10;AI-generated content may be incorrect.">
            <a:extLst>
              <a:ext uri="{FF2B5EF4-FFF2-40B4-BE49-F238E27FC236}">
                <a16:creationId xmlns:a16="http://schemas.microsoft.com/office/drawing/2014/main" id="{A0F623B7-0552-DB90-4189-2188DA5E63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075003"/>
            <a:ext cx="11982256" cy="68318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359133" y="1019175"/>
            <a:ext cx="17090469" cy="828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80"/>
              </a:lnSpc>
            </a:pPr>
            <a:r>
              <a:rPr lang="en-US" sz="5400" spc="-108" dirty="0">
                <a:solidFill>
                  <a:srgbClr val="4A90E2"/>
                </a:solidFill>
                <a:latin typeface="Tenor Sans"/>
                <a:ea typeface="Tenor Sans"/>
                <a:cs typeface="Tenor Sans"/>
                <a:sym typeface="Tenor Sans"/>
              </a:rPr>
              <a:t>Impact on Volumes and Revenue by Group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59133" y="2171700"/>
            <a:ext cx="7707964" cy="78567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396"/>
              </a:lnSpc>
              <a:spcBef>
                <a:spcPct val="0"/>
              </a:spcBef>
            </a:pP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Volumes and revenue increased meaningfully across all segments, with </a:t>
            </a:r>
            <a:r>
              <a:rPr lang="en-US" sz="3140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Medium and Small gaining share</a:t>
            </a: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, while Enterprise maintained revenue leadership.</a:t>
            </a:r>
          </a:p>
          <a:p>
            <a:pPr marL="0" lvl="0" indent="0" algn="l">
              <a:lnSpc>
                <a:spcPts val="4396"/>
              </a:lnSpc>
              <a:spcBef>
                <a:spcPct val="0"/>
              </a:spcBef>
            </a:pPr>
            <a:r>
              <a:rPr lang="en-US" sz="3140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Evidence</a:t>
            </a:r>
          </a:p>
          <a:p>
            <a:pPr marL="678059" lvl="1" indent="-339030" algn="l">
              <a:lnSpc>
                <a:spcPts val="4396"/>
              </a:lnSpc>
              <a:spcBef>
                <a:spcPct val="0"/>
              </a:spcBef>
              <a:buFont typeface="Arial"/>
              <a:buChar char="•"/>
            </a:pP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Volume Growth: Enterprise (+37%), Medium (+41%), Small (+51%)</a:t>
            </a:r>
          </a:p>
          <a:p>
            <a:pPr marL="678059" lvl="1" indent="-339030" algn="l">
              <a:lnSpc>
                <a:spcPts val="4396"/>
              </a:lnSpc>
              <a:spcBef>
                <a:spcPct val="0"/>
              </a:spcBef>
              <a:buFont typeface="Arial"/>
              <a:buChar char="•"/>
            </a:pP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Revenue Growth: tracks volume by discount policy</a:t>
            </a:r>
          </a:p>
          <a:p>
            <a:pPr marL="678059" lvl="1" indent="-339030" algn="l">
              <a:lnSpc>
                <a:spcPts val="4396"/>
              </a:lnSpc>
              <a:spcBef>
                <a:spcPct val="0"/>
              </a:spcBef>
              <a:buFont typeface="Arial"/>
              <a:buChar char="•"/>
            </a:pP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Slight share gain toward </a:t>
            </a:r>
            <a:r>
              <a:rPr lang="en-US" sz="3140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mid-market</a:t>
            </a:r>
          </a:p>
          <a:p>
            <a:pPr marL="0" lvl="0" indent="0" algn="l">
              <a:lnSpc>
                <a:spcPts val="4396"/>
              </a:lnSpc>
              <a:spcBef>
                <a:spcPct val="0"/>
              </a:spcBef>
            </a:pPr>
            <a:r>
              <a:rPr lang="en-US" sz="3140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Implication</a:t>
            </a:r>
          </a:p>
          <a:p>
            <a:pPr marL="0" lvl="0" indent="0" algn="l">
              <a:lnSpc>
                <a:spcPts val="4396"/>
              </a:lnSpc>
              <a:spcBef>
                <a:spcPct val="0"/>
              </a:spcBef>
            </a:pP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 Post-COVID strategy should combine </a:t>
            </a:r>
            <a:r>
              <a:rPr lang="en-US" sz="3140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Enterprise retention </a:t>
            </a: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with </a:t>
            </a:r>
            <a:r>
              <a:rPr lang="en-US" sz="3140" b="1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mid-market enablement</a:t>
            </a:r>
            <a:r>
              <a:rPr lang="en-US" sz="3140" dirty="0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42D747-1086-FB8B-9EC6-52293A3F1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6" name="Picture 5" descr="A graph of sales growth&#10;&#10;AI-generated content may be incorrect.">
            <a:extLst>
              <a:ext uri="{FF2B5EF4-FFF2-40B4-BE49-F238E27FC236}">
                <a16:creationId xmlns:a16="http://schemas.microsoft.com/office/drawing/2014/main" id="{5997732C-FE88-2941-6F36-078A81A29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476500"/>
            <a:ext cx="10178238" cy="633038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0" y="592256"/>
            <a:ext cx="8254746" cy="863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54"/>
              </a:lnSpc>
            </a:pPr>
            <a:r>
              <a:rPr lang="en-US" sz="5628" spc="-112">
                <a:solidFill>
                  <a:srgbClr val="4A90E2"/>
                </a:solidFill>
                <a:latin typeface="Tenor Sans"/>
                <a:ea typeface="Tenor Sans"/>
                <a:cs typeface="Tenor Sans"/>
                <a:sym typeface="Tenor Sans"/>
              </a:rPr>
              <a:t>📦 Executive Summary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6151" y="1713133"/>
            <a:ext cx="11813716" cy="8078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79"/>
              </a:lnSpc>
            </a:pPr>
            <a:r>
              <a:rPr lang="en-US" sz="2985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COVID Impact on ABC's Parcel Business</a:t>
            </a:r>
          </a:p>
          <a:p>
            <a:pPr marL="644585" lvl="1" indent="-322292" algn="l">
              <a:lnSpc>
                <a:spcPts val="4179"/>
              </a:lnSpc>
              <a:buFont typeface="Arial"/>
              <a:buChar char="•"/>
            </a:pPr>
            <a:r>
              <a:rPr lang="en-US" sz="2985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Headline:</a:t>
            </a:r>
            <a:r>
              <a:rPr lang="en-US" sz="2985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 COVID-19 drove </a:t>
            </a:r>
            <a:r>
              <a:rPr lang="en-US" sz="2985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~38% growth</a:t>
            </a:r>
            <a:r>
              <a:rPr lang="en-US" sz="2985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 in parcel volumes from 2019 to 2020, entirely from </a:t>
            </a:r>
            <a:r>
              <a:rPr lang="en-US" sz="2985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existing customers.</a:t>
            </a:r>
          </a:p>
          <a:p>
            <a:pPr marL="644585" lvl="1" indent="-322292" algn="l">
              <a:lnSpc>
                <a:spcPts val="4179"/>
              </a:lnSpc>
              <a:spcBef>
                <a:spcPct val="0"/>
              </a:spcBef>
              <a:buFont typeface="Arial"/>
              <a:buChar char="•"/>
            </a:pPr>
            <a:r>
              <a:rPr lang="en-US" sz="2985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By Segment: Enterprise</a:t>
            </a:r>
            <a:r>
              <a:rPr lang="en-US" sz="2985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 grew (</a:t>
            </a:r>
            <a:r>
              <a:rPr lang="en-US" sz="2985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+37%</a:t>
            </a:r>
            <a:r>
              <a:rPr lang="en-US" sz="2985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) and remains the </a:t>
            </a:r>
            <a:r>
              <a:rPr lang="en-US" sz="2985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core engine</a:t>
            </a:r>
            <a:r>
              <a:rPr lang="en-US" sz="2985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, while </a:t>
            </a:r>
            <a:r>
              <a:rPr lang="en-US" sz="2985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Medium &amp; Small</a:t>
            </a:r>
            <a:r>
              <a:rPr lang="en-US" sz="2985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 showed the fastest growth (</a:t>
            </a:r>
            <a:r>
              <a:rPr lang="en-US" sz="2985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+41% </a:t>
            </a:r>
            <a:r>
              <a:rPr lang="en-US" sz="2985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and </a:t>
            </a:r>
            <a:r>
              <a:rPr lang="en-US" sz="2985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+51%</a:t>
            </a:r>
            <a:r>
              <a:rPr lang="en-US" sz="2985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) and are </a:t>
            </a:r>
            <a:r>
              <a:rPr lang="en-US" sz="2985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gaining importance</a:t>
            </a:r>
            <a:r>
              <a:rPr lang="en-US" sz="2985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 in the network.</a:t>
            </a:r>
          </a:p>
          <a:p>
            <a:pPr marL="644585" lvl="1" indent="-322292" algn="l">
              <a:lnSpc>
                <a:spcPts val="4179"/>
              </a:lnSpc>
              <a:spcBef>
                <a:spcPct val="0"/>
              </a:spcBef>
              <a:buFont typeface="Arial"/>
              <a:buChar char="•"/>
            </a:pPr>
            <a:r>
              <a:rPr lang="en-US" sz="2985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Customer Base: 0% new customers</a:t>
            </a:r>
            <a:r>
              <a:rPr lang="en-US" sz="2985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; COVID </a:t>
            </a:r>
            <a:r>
              <a:rPr lang="en-US" sz="2985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intensified usage</a:t>
            </a:r>
            <a:r>
              <a:rPr lang="en-US" sz="2985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 among current accounts rather than expanding the customer list.</a:t>
            </a:r>
          </a:p>
          <a:p>
            <a:pPr marL="644585" lvl="1" indent="-322292" algn="l">
              <a:lnSpc>
                <a:spcPts val="4179"/>
              </a:lnSpc>
              <a:spcBef>
                <a:spcPct val="0"/>
              </a:spcBef>
              <a:buFont typeface="Arial"/>
              <a:buChar char="•"/>
            </a:pPr>
            <a:r>
              <a:rPr lang="en-US" sz="2985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Strategic Focus</a:t>
            </a:r>
            <a:r>
              <a:rPr lang="en-US" sz="2985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: Protect </a:t>
            </a:r>
            <a:r>
              <a:rPr lang="en-US" sz="2985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Enterprise</a:t>
            </a:r>
            <a:r>
              <a:rPr lang="en-US" sz="2985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 relationships and </a:t>
            </a:r>
            <a:r>
              <a:rPr lang="en-US" sz="2985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intentionally grow Medium/Small</a:t>
            </a:r>
            <a:r>
              <a:rPr lang="en-US" sz="2985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 e-commerce shippers with targeted products and support.</a:t>
            </a:r>
          </a:p>
          <a:p>
            <a:pPr marL="0" lvl="0" indent="0" algn="l">
              <a:lnSpc>
                <a:spcPts val="4179"/>
              </a:lnSpc>
              <a:spcBef>
                <a:spcPct val="0"/>
              </a:spcBef>
            </a:pPr>
            <a:r>
              <a:rPr lang="en-US" sz="2985" b="1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In one line</a:t>
            </a:r>
            <a:r>
              <a:rPr lang="en-US" sz="2985">
                <a:solidFill>
                  <a:srgbClr val="074559"/>
                </a:solidFill>
                <a:latin typeface="Clear Sans"/>
                <a:ea typeface="Clear Sans"/>
                <a:cs typeface="Clear Sans"/>
                <a:sym typeface="Clear Sans"/>
              </a:rPr>
              <a:t>: COVID accelerated demand within ABC's existing customer base, with Enterprise driving scale and Medium/Small segments emerging as the key growth engine.</a:t>
            </a:r>
          </a:p>
          <a:p>
            <a:pPr marL="0" lvl="0" indent="0" algn="l">
              <a:lnSpc>
                <a:spcPts val="6226"/>
              </a:lnSpc>
              <a:spcBef>
                <a:spcPct val="0"/>
              </a:spcBef>
            </a:pPr>
            <a:endParaRPr lang="en-US" sz="2985">
              <a:solidFill>
                <a:srgbClr val="074559"/>
              </a:solidFill>
              <a:latin typeface="Clear Sans"/>
              <a:ea typeface="Clear Sans"/>
              <a:cs typeface="Clear Sans"/>
              <a:sym typeface="Clear Sans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12172950" y="0"/>
            <a:ext cx="6115050" cy="10287000"/>
            <a:chOff x="0" y="0"/>
            <a:chExt cx="947381" cy="159372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47381" cy="1593725"/>
            </a:xfrm>
            <a:custGeom>
              <a:avLst/>
              <a:gdLst/>
              <a:ahLst/>
              <a:cxnLst/>
              <a:rect l="l" t="t" r="r" b="b"/>
              <a:pathLst>
                <a:path w="947381" h="1593725">
                  <a:moveTo>
                    <a:pt x="0" y="0"/>
                  </a:moveTo>
                  <a:lnTo>
                    <a:pt x="947381" y="0"/>
                  </a:lnTo>
                  <a:lnTo>
                    <a:pt x="947381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t="-58" b="-58"/>
              </a:stretch>
            </a:blipFill>
          </p:spPr>
          <p:txBody>
            <a:bodyPr/>
            <a:lstStyle/>
            <a:p>
              <a:endParaRPr lang="en-CA"/>
            </a:p>
          </p:txBody>
        </p:sp>
      </p:grp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4D0C2C-FF71-F034-5D73-6B2DCDE8B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7858125" y="3152775"/>
            <a:ext cx="8324850" cy="5542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79"/>
              </a:lnSpc>
              <a:spcBef>
                <a:spcPct val="0"/>
              </a:spcBef>
            </a:pPr>
            <a:r>
              <a:rPr lang="en-US" sz="8800" b="1" u="none" dirty="0">
                <a:solidFill>
                  <a:srgbClr val="074559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Thank You</a:t>
            </a:r>
          </a:p>
        </p:txBody>
      </p:sp>
      <p:sp>
        <p:nvSpPr>
          <p:cNvPr id="8" name="Freeform 8"/>
          <p:cNvSpPr/>
          <p:nvPr/>
        </p:nvSpPr>
        <p:spPr>
          <a:xfrm rot="20148862">
            <a:off x="10244911" y="5067405"/>
            <a:ext cx="6274865" cy="4114800"/>
          </a:xfrm>
          <a:custGeom>
            <a:avLst/>
            <a:gdLst/>
            <a:ahLst/>
            <a:cxnLst/>
            <a:rect l="l" t="t" r="r" b="b"/>
            <a:pathLst>
              <a:path w="6274865" h="4114800">
                <a:moveTo>
                  <a:pt x="0" y="0"/>
                </a:moveTo>
                <a:lnTo>
                  <a:pt x="6274865" y="0"/>
                </a:lnTo>
                <a:lnTo>
                  <a:pt x="627486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F58BE8-3AD5-B1B8-1EAC-2D89C03D2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</a:t>
            </a:fld>
            <a:endParaRPr lang="en-US"/>
          </a:p>
        </p:txBody>
      </p:sp>
      <p:grpSp>
        <p:nvGrpSpPr>
          <p:cNvPr id="10" name="Group 5">
            <a:extLst>
              <a:ext uri="{FF2B5EF4-FFF2-40B4-BE49-F238E27FC236}">
                <a16:creationId xmlns:a16="http://schemas.microsoft.com/office/drawing/2014/main" id="{2E986855-201F-C8F8-3C8E-948C00459257}"/>
              </a:ext>
            </a:extLst>
          </p:cNvPr>
          <p:cNvGrpSpPr/>
          <p:nvPr/>
        </p:nvGrpSpPr>
        <p:grpSpPr>
          <a:xfrm>
            <a:off x="28575" y="19050"/>
            <a:ext cx="6115050" cy="10287000"/>
            <a:chOff x="0" y="0"/>
            <a:chExt cx="947381" cy="1593725"/>
          </a:xfrm>
        </p:grpSpPr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8467E1A8-1FE9-D943-C36E-4C4B818FA2C2}"/>
                </a:ext>
              </a:extLst>
            </p:cNvPr>
            <p:cNvSpPr/>
            <p:nvPr/>
          </p:nvSpPr>
          <p:spPr>
            <a:xfrm>
              <a:off x="0" y="0"/>
              <a:ext cx="947381" cy="1593725"/>
            </a:xfrm>
            <a:custGeom>
              <a:avLst/>
              <a:gdLst/>
              <a:ahLst/>
              <a:cxnLst/>
              <a:rect l="l" t="t" r="r" b="b"/>
              <a:pathLst>
                <a:path w="947381" h="1593725">
                  <a:moveTo>
                    <a:pt x="0" y="0"/>
                  </a:moveTo>
                  <a:lnTo>
                    <a:pt x="947381" y="0"/>
                  </a:lnTo>
                  <a:lnTo>
                    <a:pt x="947381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4"/>
              <a:stretch>
                <a:fillRect t="-58" b="-58"/>
              </a:stretch>
            </a:blipFill>
          </p:spPr>
          <p:txBody>
            <a:bodyPr/>
            <a:lstStyle/>
            <a:p>
              <a:endParaRPr lang="en-CA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</TotalTime>
  <Words>731</Words>
  <Application>Microsoft Office PowerPoint</Application>
  <PresentationFormat>Custom</PresentationFormat>
  <Paragraphs>95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Aptos</vt:lpstr>
      <vt:lpstr>Arial</vt:lpstr>
      <vt:lpstr>Tenor Sans</vt:lpstr>
      <vt:lpstr>Clear Sans</vt:lpstr>
      <vt:lpstr>Clear Sans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- COVID-19 Impact on ABC Company</dc:title>
  <dc:creator>Promise Ehizojie</dc:creator>
  <dc:description>Presentation - COVID-19 Impact on ABC Company</dc:description>
  <cp:lastModifiedBy>Promise Ehizojie</cp:lastModifiedBy>
  <cp:revision>12</cp:revision>
  <dcterms:created xsi:type="dcterms:W3CDTF">2006-08-16T00:00:00Z</dcterms:created>
  <dcterms:modified xsi:type="dcterms:W3CDTF">2025-12-09T15:35:37Z</dcterms:modified>
  <dc:identifier>DAG6_SIT2e0</dc:identifier>
</cp:coreProperties>
</file>